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8288000" cy="10287000"/>
  <p:notesSz cx="6858000" cy="9144000"/>
  <p:embeddedFontLst>
    <p:embeddedFont>
      <p:font typeface="Now" panose="020B0604020202020204" charset="0"/>
      <p:regular r:id="rId21"/>
    </p:embeddedFont>
    <p:embeddedFont>
      <p:font typeface="Now Bold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11392544" y="4154952"/>
            <a:ext cx="11958151" cy="1929323"/>
            <a:chOff x="0" y="0"/>
            <a:chExt cx="3149472" cy="50813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49472" cy="508135"/>
            </a:xfrm>
            <a:custGeom>
              <a:avLst/>
              <a:gdLst/>
              <a:ahLst/>
              <a:cxnLst/>
              <a:rect l="l" t="t" r="r" b="b"/>
              <a:pathLst>
                <a:path w="3149472" h="508135">
                  <a:moveTo>
                    <a:pt x="0" y="0"/>
                  </a:moveTo>
                  <a:lnTo>
                    <a:pt x="3149472" y="0"/>
                  </a:lnTo>
                  <a:lnTo>
                    <a:pt x="3149472" y="508135"/>
                  </a:lnTo>
                  <a:lnTo>
                    <a:pt x="0" y="508135"/>
                  </a:lnTo>
                  <a:close/>
                </a:path>
              </a:pathLst>
            </a:custGeom>
            <a:solidFill>
              <a:srgbClr val="145DA0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3149472" cy="536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9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1208957" y="-1011147"/>
            <a:ext cx="2647750" cy="2647750"/>
          </a:xfrm>
          <a:custGeom>
            <a:avLst/>
            <a:gdLst/>
            <a:ahLst/>
            <a:cxnLst/>
            <a:rect l="l" t="t" r="r" b="b"/>
            <a:pathLst>
              <a:path w="2647750" h="2647750">
                <a:moveTo>
                  <a:pt x="0" y="0"/>
                </a:moveTo>
                <a:lnTo>
                  <a:pt x="2647750" y="0"/>
                </a:lnTo>
                <a:lnTo>
                  <a:pt x="2647750" y="2647750"/>
                </a:lnTo>
                <a:lnTo>
                  <a:pt x="0" y="26477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0380940" y="649592"/>
            <a:ext cx="7516996" cy="8987817"/>
            <a:chOff x="0" y="0"/>
            <a:chExt cx="8603361" cy="10286746"/>
          </a:xfrm>
        </p:grpSpPr>
        <p:sp>
          <p:nvSpPr>
            <p:cNvPr id="7" name="Freeform 7"/>
            <p:cNvSpPr/>
            <p:nvPr/>
          </p:nvSpPr>
          <p:spPr>
            <a:xfrm>
              <a:off x="-2794" y="-127"/>
              <a:ext cx="8606155" cy="10286873"/>
            </a:xfrm>
            <a:custGeom>
              <a:avLst/>
              <a:gdLst/>
              <a:ahLst/>
              <a:cxnLst/>
              <a:rect l="l" t="t" r="r" b="b"/>
              <a:pathLst>
                <a:path w="8606155" h="10286873">
                  <a:moveTo>
                    <a:pt x="8606155" y="10251440"/>
                  </a:moveTo>
                  <a:cubicBezTo>
                    <a:pt x="8606155" y="10284587"/>
                    <a:pt x="8595487" y="10286873"/>
                    <a:pt x="8567674" y="10286873"/>
                  </a:cubicBezTo>
                  <a:cubicBezTo>
                    <a:pt x="5713095" y="10286238"/>
                    <a:pt x="2858643" y="10286238"/>
                    <a:pt x="4064" y="10286238"/>
                  </a:cubicBezTo>
                  <a:cubicBezTo>
                    <a:pt x="0" y="10272395"/>
                    <a:pt x="6350" y="10259822"/>
                    <a:pt x="9271" y="10246995"/>
                  </a:cubicBezTo>
                  <a:cubicBezTo>
                    <a:pt x="134747" y="9685401"/>
                    <a:pt x="260350" y="9123934"/>
                    <a:pt x="386207" y="8562467"/>
                  </a:cubicBezTo>
                  <a:cubicBezTo>
                    <a:pt x="565658" y="7761986"/>
                    <a:pt x="745490" y="6961632"/>
                    <a:pt x="924814" y="6161151"/>
                  </a:cubicBezTo>
                  <a:cubicBezTo>
                    <a:pt x="1146302" y="5172583"/>
                    <a:pt x="1367282" y="4184015"/>
                    <a:pt x="1588643" y="3195574"/>
                  </a:cubicBezTo>
                  <a:cubicBezTo>
                    <a:pt x="1813560" y="2191385"/>
                    <a:pt x="2038604" y="1187323"/>
                    <a:pt x="2264156" y="183261"/>
                  </a:cubicBezTo>
                  <a:cubicBezTo>
                    <a:pt x="2277872" y="122174"/>
                    <a:pt x="2286635" y="59690"/>
                    <a:pt x="2308860" y="635"/>
                  </a:cubicBezTo>
                  <a:cubicBezTo>
                    <a:pt x="4395216" y="635"/>
                    <a:pt x="6481572" y="635"/>
                    <a:pt x="8567928" y="0"/>
                  </a:cubicBezTo>
                  <a:cubicBezTo>
                    <a:pt x="8596249" y="0"/>
                    <a:pt x="8605901" y="3429"/>
                    <a:pt x="8605901" y="35814"/>
                  </a:cubicBezTo>
                  <a:cubicBezTo>
                    <a:pt x="8605139" y="3441065"/>
                    <a:pt x="8605139" y="6846316"/>
                    <a:pt x="8606155" y="10251440"/>
                  </a:cubicBezTo>
                  <a:close/>
                </a:path>
              </a:pathLst>
            </a:custGeom>
            <a:blipFill>
              <a:blip r:embed="rId4"/>
              <a:stretch>
                <a:fillRect t="-12765" b="-12765"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572278" y="1028700"/>
            <a:ext cx="12153403" cy="3417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89"/>
              </a:lnSpc>
            </a:pPr>
            <a:r>
              <a:rPr lang="en-US" sz="7407" b="1">
                <a:solidFill>
                  <a:srgbClr val="FFFBFB"/>
                </a:solidFill>
                <a:latin typeface="Now Bold"/>
                <a:ea typeface="Now Bold"/>
                <a:cs typeface="Now Bold"/>
                <a:sym typeface="Now Bold"/>
              </a:rPr>
              <a:t>HERRAMIENTA TECNOLÓGICA</a:t>
            </a:r>
          </a:p>
          <a:p>
            <a:pPr algn="l">
              <a:lnSpc>
                <a:spcPts val="8889"/>
              </a:lnSpc>
            </a:pPr>
            <a:r>
              <a:rPr lang="en-US" sz="7407" b="1">
                <a:solidFill>
                  <a:srgbClr val="FFFBFB"/>
                </a:solidFill>
                <a:latin typeface="Now Bold"/>
                <a:ea typeface="Now Bold"/>
                <a:cs typeface="Now Bold"/>
                <a:sym typeface="Now Bold"/>
              </a:rPr>
              <a:t>PARA LA</a:t>
            </a:r>
          </a:p>
        </p:txBody>
      </p:sp>
      <p:sp>
        <p:nvSpPr>
          <p:cNvPr id="9" name="Freeform 9"/>
          <p:cNvSpPr/>
          <p:nvPr/>
        </p:nvSpPr>
        <p:spPr>
          <a:xfrm>
            <a:off x="-295175" y="8630507"/>
            <a:ext cx="2647750" cy="2647750"/>
          </a:xfrm>
          <a:custGeom>
            <a:avLst/>
            <a:gdLst/>
            <a:ahLst/>
            <a:cxnLst/>
            <a:rect l="l" t="t" r="r" b="b"/>
            <a:pathLst>
              <a:path w="2647750" h="2647750">
                <a:moveTo>
                  <a:pt x="0" y="0"/>
                </a:moveTo>
                <a:lnTo>
                  <a:pt x="2647750" y="0"/>
                </a:lnTo>
                <a:lnTo>
                  <a:pt x="2647750" y="2647751"/>
                </a:lnTo>
                <a:lnTo>
                  <a:pt x="0" y="26477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572278" y="4446270"/>
            <a:ext cx="9659937" cy="3223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9"/>
              </a:lnSpc>
            </a:pPr>
            <a:r>
              <a:rPr lang="en-US" sz="7007" b="1">
                <a:solidFill>
                  <a:srgbClr val="56AEFF"/>
                </a:solidFill>
                <a:latin typeface="Now Bold"/>
                <a:ea typeface="Now Bold"/>
                <a:cs typeface="Now Bold"/>
                <a:sym typeface="Now Bold"/>
              </a:rPr>
              <a:t>GESTIÓN OPERATIVA Y CONTROL DE LUBRICANTES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-969328" y="7669530"/>
            <a:ext cx="10959085" cy="1179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249"/>
              </a:lnSpc>
              <a:spcBef>
                <a:spcPct val="0"/>
              </a:spcBef>
            </a:pPr>
            <a:r>
              <a:rPr lang="en-US" sz="7707" b="1">
                <a:solidFill>
                  <a:srgbClr val="FFFBFB"/>
                </a:solidFill>
                <a:latin typeface="Now Bold"/>
                <a:ea typeface="Now Bold"/>
                <a:cs typeface="Now Bold"/>
                <a:sym typeface="Now Bold"/>
              </a:rPr>
              <a:t>DE LA FLOTA TSL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11392544" y="4154952"/>
            <a:ext cx="11958151" cy="1929323"/>
            <a:chOff x="0" y="0"/>
            <a:chExt cx="3149472" cy="50813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49472" cy="508135"/>
            </a:xfrm>
            <a:custGeom>
              <a:avLst/>
              <a:gdLst/>
              <a:ahLst/>
              <a:cxnLst/>
              <a:rect l="l" t="t" r="r" b="b"/>
              <a:pathLst>
                <a:path w="3149472" h="508135">
                  <a:moveTo>
                    <a:pt x="0" y="0"/>
                  </a:moveTo>
                  <a:lnTo>
                    <a:pt x="3149472" y="0"/>
                  </a:lnTo>
                  <a:lnTo>
                    <a:pt x="3149472" y="508135"/>
                  </a:lnTo>
                  <a:lnTo>
                    <a:pt x="0" y="508135"/>
                  </a:lnTo>
                  <a:close/>
                </a:path>
              </a:pathLst>
            </a:custGeom>
            <a:solidFill>
              <a:srgbClr val="145DA0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3149472" cy="536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9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1208957" y="-1011147"/>
            <a:ext cx="2647750" cy="2647750"/>
          </a:xfrm>
          <a:custGeom>
            <a:avLst/>
            <a:gdLst/>
            <a:ahLst/>
            <a:cxnLst/>
            <a:rect l="l" t="t" r="r" b="b"/>
            <a:pathLst>
              <a:path w="2647750" h="2647750">
                <a:moveTo>
                  <a:pt x="0" y="0"/>
                </a:moveTo>
                <a:lnTo>
                  <a:pt x="2647750" y="0"/>
                </a:lnTo>
                <a:lnTo>
                  <a:pt x="2647750" y="2647750"/>
                </a:lnTo>
                <a:lnTo>
                  <a:pt x="0" y="26477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0380940" y="649592"/>
            <a:ext cx="7516996" cy="8987817"/>
            <a:chOff x="0" y="0"/>
            <a:chExt cx="8603361" cy="10286746"/>
          </a:xfrm>
        </p:grpSpPr>
        <p:sp>
          <p:nvSpPr>
            <p:cNvPr id="7" name="Freeform 7"/>
            <p:cNvSpPr/>
            <p:nvPr/>
          </p:nvSpPr>
          <p:spPr>
            <a:xfrm>
              <a:off x="-2794" y="-127"/>
              <a:ext cx="8606155" cy="10286873"/>
            </a:xfrm>
            <a:custGeom>
              <a:avLst/>
              <a:gdLst/>
              <a:ahLst/>
              <a:cxnLst/>
              <a:rect l="l" t="t" r="r" b="b"/>
              <a:pathLst>
                <a:path w="8606155" h="10286873">
                  <a:moveTo>
                    <a:pt x="8606155" y="10251440"/>
                  </a:moveTo>
                  <a:cubicBezTo>
                    <a:pt x="8606155" y="10284587"/>
                    <a:pt x="8595487" y="10286873"/>
                    <a:pt x="8567674" y="10286873"/>
                  </a:cubicBezTo>
                  <a:cubicBezTo>
                    <a:pt x="5713095" y="10286238"/>
                    <a:pt x="2858643" y="10286238"/>
                    <a:pt x="4064" y="10286238"/>
                  </a:cubicBezTo>
                  <a:cubicBezTo>
                    <a:pt x="0" y="10272395"/>
                    <a:pt x="6350" y="10259822"/>
                    <a:pt x="9271" y="10246995"/>
                  </a:cubicBezTo>
                  <a:cubicBezTo>
                    <a:pt x="134747" y="9685401"/>
                    <a:pt x="260350" y="9123934"/>
                    <a:pt x="386207" y="8562467"/>
                  </a:cubicBezTo>
                  <a:cubicBezTo>
                    <a:pt x="565658" y="7761986"/>
                    <a:pt x="745490" y="6961632"/>
                    <a:pt x="924814" y="6161151"/>
                  </a:cubicBezTo>
                  <a:cubicBezTo>
                    <a:pt x="1146302" y="5172583"/>
                    <a:pt x="1367282" y="4184015"/>
                    <a:pt x="1588643" y="3195574"/>
                  </a:cubicBezTo>
                  <a:cubicBezTo>
                    <a:pt x="1813560" y="2191385"/>
                    <a:pt x="2038604" y="1187323"/>
                    <a:pt x="2264156" y="183261"/>
                  </a:cubicBezTo>
                  <a:cubicBezTo>
                    <a:pt x="2277872" y="122174"/>
                    <a:pt x="2286635" y="59690"/>
                    <a:pt x="2308860" y="635"/>
                  </a:cubicBezTo>
                  <a:cubicBezTo>
                    <a:pt x="4395216" y="635"/>
                    <a:pt x="6481572" y="635"/>
                    <a:pt x="8567928" y="0"/>
                  </a:cubicBezTo>
                  <a:cubicBezTo>
                    <a:pt x="8596249" y="0"/>
                    <a:pt x="8605901" y="3429"/>
                    <a:pt x="8605901" y="35814"/>
                  </a:cubicBezTo>
                  <a:cubicBezTo>
                    <a:pt x="8605139" y="3441065"/>
                    <a:pt x="8605139" y="6846316"/>
                    <a:pt x="8606155" y="10251440"/>
                  </a:cubicBezTo>
                  <a:close/>
                </a:path>
              </a:pathLst>
            </a:custGeom>
            <a:blipFill>
              <a:blip r:embed="rId4"/>
              <a:stretch>
                <a:fillRect t="-12765" b="-12765"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572278" y="2093803"/>
            <a:ext cx="12153403" cy="3417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89"/>
              </a:lnSpc>
            </a:pPr>
            <a:r>
              <a:rPr lang="en-US" sz="7407" b="1">
                <a:solidFill>
                  <a:srgbClr val="FFFBFB"/>
                </a:solidFill>
                <a:latin typeface="Now Bold"/>
                <a:ea typeface="Now Bold"/>
                <a:cs typeface="Now Bold"/>
                <a:sym typeface="Now Bold"/>
              </a:rPr>
              <a:t>PLATAFORMA DE REGISTRO DE CONSUMO DE</a:t>
            </a:r>
          </a:p>
        </p:txBody>
      </p:sp>
      <p:sp>
        <p:nvSpPr>
          <p:cNvPr id="9" name="Freeform 9"/>
          <p:cNvSpPr/>
          <p:nvPr/>
        </p:nvSpPr>
        <p:spPr>
          <a:xfrm>
            <a:off x="-295175" y="8630507"/>
            <a:ext cx="2647750" cy="2647750"/>
          </a:xfrm>
          <a:custGeom>
            <a:avLst/>
            <a:gdLst/>
            <a:ahLst/>
            <a:cxnLst/>
            <a:rect l="l" t="t" r="r" b="b"/>
            <a:pathLst>
              <a:path w="2647750" h="2647750">
                <a:moveTo>
                  <a:pt x="0" y="0"/>
                </a:moveTo>
                <a:lnTo>
                  <a:pt x="2647750" y="0"/>
                </a:lnTo>
                <a:lnTo>
                  <a:pt x="2647750" y="2647751"/>
                </a:lnTo>
                <a:lnTo>
                  <a:pt x="0" y="26477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572278" y="5511373"/>
            <a:ext cx="9659937" cy="2148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9"/>
              </a:lnSpc>
            </a:pPr>
            <a:r>
              <a:rPr lang="en-US" sz="7007" b="1">
                <a:solidFill>
                  <a:srgbClr val="56AEFF"/>
                </a:solidFill>
                <a:latin typeface="Now Bold"/>
                <a:ea typeface="Now Bold"/>
                <a:cs typeface="Now Bold"/>
                <a:sym typeface="Now Bold"/>
              </a:rPr>
              <a:t>LUBRICANTE Y COMBUSTIBLE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910757"/>
            <a:ext cx="18288000" cy="6591942"/>
          </a:xfrm>
          <a:custGeom>
            <a:avLst/>
            <a:gdLst/>
            <a:ahLst/>
            <a:cxnLst/>
            <a:rect l="l" t="t" r="r" b="b"/>
            <a:pathLst>
              <a:path w="18288000" h="6591942">
                <a:moveTo>
                  <a:pt x="0" y="0"/>
                </a:moveTo>
                <a:lnTo>
                  <a:pt x="18288000" y="0"/>
                </a:lnTo>
                <a:lnTo>
                  <a:pt x="18288000" y="6591943"/>
                </a:lnTo>
                <a:lnTo>
                  <a:pt x="0" y="65919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344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5686" y="4427957"/>
            <a:ext cx="18102314" cy="298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3300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SE REQUIERE UN HERRAMIENTA QUE PERMITA REGISTRAR Y MONITOREAR EL CONSUMO DE LUBRICANTE (LITROS AGREGADOS A LOS EQUIPOS) Y LAS HORAS TRABAJADAS POR CADA EQUIPO</a:t>
            </a:r>
          </a:p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sz="3300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Para poder calcular el consumo mensual y alertar si algún equipo presenta un consumo fuera de los parámetros establecidos, incluso cuando no haya conexión a internet.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85686" y="2687999"/>
            <a:ext cx="12153403" cy="113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89"/>
              </a:lnSpc>
            </a:pPr>
            <a:r>
              <a:rPr lang="en-US" sz="7407" b="1">
                <a:solidFill>
                  <a:srgbClr val="FFFBFB"/>
                </a:solidFill>
                <a:latin typeface="Now Bold"/>
                <a:ea typeface="Now Bold"/>
                <a:cs typeface="Now Bold"/>
                <a:sym typeface="Now Bold"/>
              </a:rPr>
              <a:t>REQUERIMIENTO 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155801" y="2770572"/>
            <a:ext cx="13159379" cy="6933375"/>
          </a:xfrm>
          <a:custGeom>
            <a:avLst/>
            <a:gdLst/>
            <a:ahLst/>
            <a:cxnLst/>
            <a:rect l="l" t="t" r="r" b="b"/>
            <a:pathLst>
              <a:path w="13159379" h="6933375">
                <a:moveTo>
                  <a:pt x="0" y="0"/>
                </a:moveTo>
                <a:lnTo>
                  <a:pt x="13159379" y="0"/>
                </a:lnTo>
                <a:lnTo>
                  <a:pt x="13159379" y="6933375"/>
                </a:lnTo>
                <a:lnTo>
                  <a:pt x="0" y="69333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8659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52804" y="1019175"/>
            <a:ext cx="17935196" cy="1495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sz="3300" b="1" dirty="0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SE CREO UNA APLICACION QUE PERMITE REGISTRAR EL CONSUMO DIARIO DE LUBRICANTE Y AL SINCRONIZAR CON EL SERVIDOR NOTIFICA AL SUPERINTENDENTE.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3188803"/>
            <a:ext cx="18288000" cy="5737860"/>
          </a:xfrm>
          <a:custGeom>
            <a:avLst/>
            <a:gdLst/>
            <a:ahLst/>
            <a:cxnLst/>
            <a:rect l="l" t="t" r="r" b="b"/>
            <a:pathLst>
              <a:path w="18288000" h="5737860">
                <a:moveTo>
                  <a:pt x="0" y="0"/>
                </a:moveTo>
                <a:lnTo>
                  <a:pt x="18288000" y="0"/>
                </a:lnTo>
                <a:lnTo>
                  <a:pt x="18288000" y="5737860"/>
                </a:lnTo>
                <a:lnTo>
                  <a:pt x="0" y="57378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2843" y="3945173"/>
            <a:ext cx="18195157" cy="1495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sz="3300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REQUIERO UNA HERRAMIENTA QUE ME PERMITA CONOCER CUÁNTO LUBRICANTE HE CONSUMIDO EN UN RANGO DE FECHAS ESPECÍFICO, POR EQUIPO, Y DESGLOSADO POR TIPO DE CONSUMO (NORMAL, MANTENIMIENTO, CONTAMINACIÓN, OTROS)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2843" y="2205215"/>
            <a:ext cx="12153403" cy="113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89"/>
              </a:lnSpc>
            </a:pPr>
            <a:r>
              <a:rPr lang="en-US" sz="7407" b="1">
                <a:solidFill>
                  <a:srgbClr val="FFFBFB"/>
                </a:solidFill>
                <a:latin typeface="Now Bold"/>
                <a:ea typeface="Now Bold"/>
                <a:cs typeface="Now Bold"/>
                <a:sym typeface="Now Bold"/>
              </a:rPr>
              <a:t>REQUERIMIENTO 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424482" y="0"/>
            <a:ext cx="13665926" cy="10283609"/>
          </a:xfrm>
          <a:custGeom>
            <a:avLst/>
            <a:gdLst/>
            <a:ahLst/>
            <a:cxnLst/>
            <a:rect l="l" t="t" r="r" b="b"/>
            <a:pathLst>
              <a:path w="13665926" h="10283609">
                <a:moveTo>
                  <a:pt x="0" y="0"/>
                </a:moveTo>
                <a:lnTo>
                  <a:pt x="13665925" y="0"/>
                </a:lnTo>
                <a:lnTo>
                  <a:pt x="13665925" y="10283609"/>
                </a:lnTo>
                <a:lnTo>
                  <a:pt x="0" y="102836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29980" y="3304796"/>
            <a:ext cx="4130768" cy="3352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6"/>
              </a:lnSpc>
              <a:spcBef>
                <a:spcPct val="0"/>
              </a:spcBef>
            </a:pPr>
            <a:r>
              <a:rPr lang="en-US" sz="2797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LA SOLUCION FUE HACER INDEPENDIENTE LA ENTIDAD ACEITE PERMITIENDO RELACIONAR UN ACEITE A DIFERENTES EQUIPOS (AUX 1, AUX 2, AUX 3).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2843" y="4836467"/>
            <a:ext cx="18195157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60"/>
              </a:lnSpc>
              <a:spcBef>
                <a:spcPct val="0"/>
              </a:spcBef>
            </a:pPr>
            <a:r>
              <a:rPr lang="en-US" sz="3300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AL REGISTRAR UN CONSUMO POR CONTAMINACION ADJUNTE EL ANALISIS DE  ACEITE REALIZADO EL TMS.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2843" y="2205215"/>
            <a:ext cx="12153403" cy="113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89"/>
              </a:lnSpc>
            </a:pPr>
            <a:r>
              <a:rPr lang="en-US" sz="7407" b="1">
                <a:solidFill>
                  <a:srgbClr val="FFFBFB"/>
                </a:solidFill>
                <a:latin typeface="Now Bold"/>
                <a:ea typeface="Now Bold"/>
                <a:cs typeface="Now Bold"/>
                <a:sym typeface="Now Bold"/>
              </a:rPr>
              <a:t>REQUERIMIENTO 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641583" y="2446540"/>
            <a:ext cx="3601011" cy="5393920"/>
          </a:xfrm>
          <a:custGeom>
            <a:avLst/>
            <a:gdLst/>
            <a:ahLst/>
            <a:cxnLst/>
            <a:rect l="l" t="t" r="r" b="b"/>
            <a:pathLst>
              <a:path w="3601011" h="5393920">
                <a:moveTo>
                  <a:pt x="0" y="0"/>
                </a:moveTo>
                <a:lnTo>
                  <a:pt x="3601011" y="0"/>
                </a:lnTo>
                <a:lnTo>
                  <a:pt x="3601011" y="5393920"/>
                </a:lnTo>
                <a:lnTo>
                  <a:pt x="0" y="53939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8623594" y="1490861"/>
            <a:ext cx="9257248" cy="7305277"/>
          </a:xfrm>
          <a:custGeom>
            <a:avLst/>
            <a:gdLst/>
            <a:ahLst/>
            <a:cxnLst/>
            <a:rect l="l" t="t" r="r" b="b"/>
            <a:pathLst>
              <a:path w="9257248" h="7305277">
                <a:moveTo>
                  <a:pt x="0" y="0"/>
                </a:moveTo>
                <a:lnTo>
                  <a:pt x="9257248" y="0"/>
                </a:lnTo>
                <a:lnTo>
                  <a:pt x="9257248" y="7305278"/>
                </a:lnTo>
                <a:lnTo>
                  <a:pt x="0" y="73052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29980" y="3304796"/>
            <a:ext cx="4130768" cy="3352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6"/>
              </a:lnSpc>
              <a:spcBef>
                <a:spcPct val="0"/>
              </a:spcBef>
            </a:pPr>
            <a:r>
              <a:rPr lang="en-US" sz="2797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LA SOLUCION FUE RELACIONAR EL ID DE LA TAREA ANALISIS DE ACEITE, ESTO NOS PERMITE VER LOS ANALISIS REALIZADOS Y PODER SELECCIONARLOS.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849129" y="1777355"/>
            <a:ext cx="13110841" cy="7784562"/>
          </a:xfrm>
          <a:custGeom>
            <a:avLst/>
            <a:gdLst/>
            <a:ahLst/>
            <a:cxnLst/>
            <a:rect l="l" t="t" r="r" b="b"/>
            <a:pathLst>
              <a:path w="13110841" h="7784562">
                <a:moveTo>
                  <a:pt x="0" y="0"/>
                </a:moveTo>
                <a:lnTo>
                  <a:pt x="13110841" y="0"/>
                </a:lnTo>
                <a:lnTo>
                  <a:pt x="13110841" y="7784561"/>
                </a:lnTo>
                <a:lnTo>
                  <a:pt x="0" y="778456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100562" y="459105"/>
            <a:ext cx="8086876" cy="113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89"/>
              </a:lnSpc>
            </a:pPr>
            <a:r>
              <a:rPr lang="en-US" sz="7407" b="1">
                <a:solidFill>
                  <a:srgbClr val="FFFBFB"/>
                </a:solidFill>
                <a:latin typeface="Now Bold"/>
                <a:ea typeface="Now Bold"/>
                <a:cs typeface="Now Bold"/>
                <a:sym typeface="Now Bold"/>
              </a:rPr>
              <a:t>REQUERIMIENTO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88221" y="2314121"/>
            <a:ext cx="14086973" cy="7683891"/>
          </a:xfrm>
          <a:custGeom>
            <a:avLst/>
            <a:gdLst/>
            <a:ahLst/>
            <a:cxnLst/>
            <a:rect l="l" t="t" r="r" b="b"/>
            <a:pathLst>
              <a:path w="14086973" h="7683891">
                <a:moveTo>
                  <a:pt x="0" y="0"/>
                </a:moveTo>
                <a:lnTo>
                  <a:pt x="14086973" y="0"/>
                </a:lnTo>
                <a:lnTo>
                  <a:pt x="14086973" y="7683891"/>
                </a:lnTo>
                <a:lnTo>
                  <a:pt x="0" y="76838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160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42462" y="211681"/>
            <a:ext cx="16943114" cy="1960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6"/>
              </a:lnSpc>
            </a:pPr>
            <a:r>
              <a:rPr lang="en-US" sz="2797" b="1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1° ETAPA:</a:t>
            </a:r>
          </a:p>
          <a:p>
            <a:pPr algn="l">
              <a:lnSpc>
                <a:spcPts val="3356"/>
              </a:lnSpc>
            </a:pPr>
            <a:endParaRPr lang="en-US" sz="2797" b="1">
              <a:solidFill>
                <a:srgbClr val="FFFFFF"/>
              </a:solidFill>
              <a:latin typeface="Now Bold"/>
              <a:ea typeface="Now Bold"/>
              <a:cs typeface="Now Bold"/>
              <a:sym typeface="Now Bold"/>
            </a:endParaRPr>
          </a:p>
          <a:p>
            <a:pPr marL="539136" lvl="1" indent="-269568" algn="l">
              <a:lnSpc>
                <a:spcPts val="2996"/>
              </a:lnSpc>
              <a:buFont typeface="Arial"/>
              <a:buChar char="•"/>
            </a:pPr>
            <a:r>
              <a:rPr lang="en-US" sz="2497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LOS PUNTOS VERDES SON ES LA INFORMACION QUE YA SE TIENE EN LA PLATAFORMA.</a:t>
            </a:r>
          </a:p>
          <a:p>
            <a:pPr algn="l">
              <a:lnSpc>
                <a:spcPts val="2996"/>
              </a:lnSpc>
            </a:pPr>
            <a:endParaRPr lang="en-US" sz="2497">
              <a:solidFill>
                <a:srgbClr val="FFFFFF"/>
              </a:solidFill>
              <a:latin typeface="Now"/>
              <a:ea typeface="Now"/>
              <a:cs typeface="Now"/>
              <a:sym typeface="Now"/>
            </a:endParaRPr>
          </a:p>
          <a:p>
            <a:pPr marL="539136" lvl="1" indent="-269568" algn="l">
              <a:lnSpc>
                <a:spcPts val="2996"/>
              </a:lnSpc>
              <a:spcBef>
                <a:spcPct val="0"/>
              </a:spcBef>
              <a:buFont typeface="Arial"/>
              <a:buChar char="•"/>
            </a:pPr>
            <a:r>
              <a:rPr lang="en-US" sz="2497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LO AMARILLO SE DEBE DE DESARROLLAR PARA LOGRAR ARROJAR LOS REPORTES SOLICITADOS.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172225" y="4515993"/>
            <a:ext cx="11941013" cy="4569428"/>
          </a:xfrm>
          <a:custGeom>
            <a:avLst/>
            <a:gdLst/>
            <a:ahLst/>
            <a:cxnLst/>
            <a:rect l="l" t="t" r="r" b="b"/>
            <a:pathLst>
              <a:path w="11941013" h="4569428">
                <a:moveTo>
                  <a:pt x="0" y="0"/>
                </a:moveTo>
                <a:lnTo>
                  <a:pt x="11941013" y="0"/>
                </a:lnTo>
                <a:lnTo>
                  <a:pt x="11941013" y="4569427"/>
                </a:lnTo>
                <a:lnTo>
                  <a:pt x="0" y="45694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172225" y="3138541"/>
            <a:ext cx="9477691" cy="1377452"/>
          </a:xfrm>
          <a:custGeom>
            <a:avLst/>
            <a:gdLst/>
            <a:ahLst/>
            <a:cxnLst/>
            <a:rect l="l" t="t" r="r" b="b"/>
            <a:pathLst>
              <a:path w="9477691" h="1377452">
                <a:moveTo>
                  <a:pt x="0" y="0"/>
                </a:moveTo>
                <a:lnTo>
                  <a:pt x="9477691" y="0"/>
                </a:lnTo>
                <a:lnTo>
                  <a:pt x="9477691" y="1377452"/>
                </a:lnTo>
                <a:lnTo>
                  <a:pt x="0" y="137745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42462" y="211681"/>
            <a:ext cx="16943114" cy="1264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6"/>
              </a:lnSpc>
            </a:pPr>
            <a:r>
              <a:rPr lang="en-US" sz="2797" b="1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1° ETAPA: </a:t>
            </a:r>
          </a:p>
          <a:p>
            <a:pPr algn="l">
              <a:lnSpc>
                <a:spcPts val="3356"/>
              </a:lnSpc>
            </a:pPr>
            <a:endParaRPr lang="en-US" sz="2797" b="1">
              <a:solidFill>
                <a:srgbClr val="FFFFFF"/>
              </a:solidFill>
              <a:latin typeface="Now Bold"/>
              <a:ea typeface="Now Bold"/>
              <a:cs typeface="Now Bold"/>
              <a:sym typeface="Now Bold"/>
            </a:endParaRPr>
          </a:p>
          <a:p>
            <a:pPr algn="l">
              <a:lnSpc>
                <a:spcPts val="3356"/>
              </a:lnSpc>
              <a:spcBef>
                <a:spcPct val="0"/>
              </a:spcBef>
            </a:pPr>
            <a:r>
              <a:rPr lang="en-US" sz="2797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IMPLEMENTANDO LOS PUNTOS ANTERIORES PODRIAMOS TENER LOS SIGUIENTES REPORTES.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77780" y="2968701"/>
            <a:ext cx="10132439" cy="5426578"/>
          </a:xfrm>
          <a:custGeom>
            <a:avLst/>
            <a:gdLst/>
            <a:ahLst/>
            <a:cxnLst/>
            <a:rect l="l" t="t" r="r" b="b"/>
            <a:pathLst>
              <a:path w="10132439" h="5426578">
                <a:moveTo>
                  <a:pt x="0" y="0"/>
                </a:moveTo>
                <a:lnTo>
                  <a:pt x="10132440" y="0"/>
                </a:lnTo>
                <a:lnTo>
                  <a:pt x="10132440" y="5426578"/>
                </a:lnTo>
                <a:lnTo>
                  <a:pt x="0" y="54265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72443" y="179070"/>
            <a:ext cx="16943114" cy="1684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6"/>
              </a:lnSpc>
            </a:pPr>
            <a:r>
              <a:rPr lang="en-US" sz="2797" b="1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2° ETAPA</a:t>
            </a:r>
          </a:p>
          <a:p>
            <a:pPr algn="l">
              <a:lnSpc>
                <a:spcPts val="3356"/>
              </a:lnSpc>
            </a:pPr>
            <a:endParaRPr lang="en-US" sz="2797" b="1">
              <a:solidFill>
                <a:srgbClr val="FFFFFF"/>
              </a:solidFill>
              <a:latin typeface="Now Bold"/>
              <a:ea typeface="Now Bold"/>
              <a:cs typeface="Now Bold"/>
              <a:sym typeface="Now Bold"/>
            </a:endParaRPr>
          </a:p>
          <a:p>
            <a:pPr algn="l">
              <a:lnSpc>
                <a:spcPts val="3356"/>
              </a:lnSpc>
              <a:spcBef>
                <a:spcPct val="0"/>
              </a:spcBef>
            </a:pPr>
            <a:r>
              <a:rPr lang="en-US" sz="2797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PARA EL PUNTOS 10, SE REQUIERE QUE OTRO USUARIO INTERACTURE DENTRO DE LA PLATAFORMA. 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007195" y="1460813"/>
            <a:ext cx="7732184" cy="6943330"/>
          </a:xfrm>
          <a:custGeom>
            <a:avLst/>
            <a:gdLst/>
            <a:ahLst/>
            <a:cxnLst/>
            <a:rect l="l" t="t" r="r" b="b"/>
            <a:pathLst>
              <a:path w="7732184" h="6943330">
                <a:moveTo>
                  <a:pt x="0" y="0"/>
                </a:moveTo>
                <a:lnTo>
                  <a:pt x="7732184" y="0"/>
                </a:lnTo>
                <a:lnTo>
                  <a:pt x="7732184" y="6943331"/>
                </a:lnTo>
                <a:lnTo>
                  <a:pt x="0" y="694333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418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2423" y="1658906"/>
            <a:ext cx="7695943" cy="5882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6"/>
              </a:lnSpc>
            </a:pPr>
            <a:r>
              <a:rPr lang="en-US" sz="2797" b="1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1° ETAPA</a:t>
            </a:r>
          </a:p>
          <a:p>
            <a:pPr algn="l">
              <a:lnSpc>
                <a:spcPts val="3356"/>
              </a:lnSpc>
            </a:pPr>
            <a:endParaRPr lang="en-US" sz="2797" b="1">
              <a:solidFill>
                <a:srgbClr val="FFFFFF"/>
              </a:solidFill>
              <a:latin typeface="Now Bold"/>
              <a:ea typeface="Now Bold"/>
              <a:cs typeface="Now Bold"/>
              <a:sym typeface="Now Bold"/>
            </a:endParaRPr>
          </a:p>
          <a:p>
            <a:pPr marL="603904" lvl="1" indent="-301952" algn="l">
              <a:lnSpc>
                <a:spcPts val="3356"/>
              </a:lnSpc>
              <a:buFont typeface="Arial"/>
              <a:buChar char="•"/>
            </a:pPr>
            <a:r>
              <a:rPr lang="en-US" sz="2797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SOLO EL JEFE DE MAQUINA PUEDE LLEVAR LOS REGISTROS DENTRO DE LA PLATAFORMA.</a:t>
            </a:r>
          </a:p>
          <a:p>
            <a:pPr marL="603904" lvl="1" indent="-301952" algn="l">
              <a:lnSpc>
                <a:spcPts val="3356"/>
              </a:lnSpc>
              <a:buFont typeface="Arial"/>
              <a:buChar char="•"/>
            </a:pPr>
            <a:r>
              <a:rPr lang="en-US" sz="2797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SUPERINTENDETES U OFICINA SOLO PUEDE VISUALIZAR LA INFORMACION</a:t>
            </a:r>
          </a:p>
          <a:p>
            <a:pPr algn="l">
              <a:lnSpc>
                <a:spcPts val="3356"/>
              </a:lnSpc>
            </a:pPr>
            <a:endParaRPr lang="en-US" sz="2797">
              <a:solidFill>
                <a:srgbClr val="FFFFFF"/>
              </a:solidFill>
              <a:latin typeface="Now"/>
              <a:ea typeface="Now"/>
              <a:cs typeface="Now"/>
              <a:sym typeface="Now"/>
            </a:endParaRPr>
          </a:p>
          <a:p>
            <a:pPr algn="l">
              <a:lnSpc>
                <a:spcPts val="3356"/>
              </a:lnSpc>
            </a:pPr>
            <a:r>
              <a:rPr lang="en-US" sz="2797" b="1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2° ETAPA</a:t>
            </a:r>
          </a:p>
          <a:p>
            <a:pPr marL="603904" lvl="1" indent="-301952" algn="l">
              <a:lnSpc>
                <a:spcPts val="3356"/>
              </a:lnSpc>
              <a:buFont typeface="Arial"/>
              <a:buChar char="•"/>
            </a:pPr>
            <a:r>
              <a:rPr lang="en-US" sz="2797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MULTI USUARIOS INTERACTUANDO EN LA MISMA PLATAFORMA.</a:t>
            </a:r>
          </a:p>
          <a:p>
            <a:pPr algn="l">
              <a:lnSpc>
                <a:spcPts val="3356"/>
              </a:lnSpc>
            </a:pPr>
            <a:endParaRPr lang="en-US" sz="2797">
              <a:solidFill>
                <a:srgbClr val="FFFFFF"/>
              </a:solidFill>
              <a:latin typeface="Now"/>
              <a:ea typeface="Now"/>
              <a:cs typeface="Now"/>
              <a:sym typeface="Now"/>
            </a:endParaRPr>
          </a:p>
          <a:p>
            <a:pPr algn="l">
              <a:lnSpc>
                <a:spcPts val="3356"/>
              </a:lnSpc>
            </a:pPr>
            <a:endParaRPr lang="en-US" sz="2797">
              <a:solidFill>
                <a:srgbClr val="FFFFFF"/>
              </a:solidFill>
              <a:latin typeface="Now"/>
              <a:ea typeface="Now"/>
              <a:cs typeface="Now"/>
              <a:sym typeface="Now"/>
            </a:endParaRPr>
          </a:p>
          <a:p>
            <a:pPr algn="l">
              <a:lnSpc>
                <a:spcPts val="3356"/>
              </a:lnSpc>
              <a:spcBef>
                <a:spcPct val="0"/>
              </a:spcBef>
            </a:pPr>
            <a:endParaRPr lang="en-US" sz="2797">
              <a:solidFill>
                <a:srgbClr val="FFFFFF"/>
              </a:solidFill>
              <a:latin typeface="Now"/>
              <a:ea typeface="Now"/>
              <a:cs typeface="Now"/>
              <a:sym typeface="Now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2332769"/>
            <a:ext cx="7658536" cy="1279087"/>
          </a:xfrm>
          <a:custGeom>
            <a:avLst/>
            <a:gdLst/>
            <a:ahLst/>
            <a:cxnLst/>
            <a:rect l="l" t="t" r="r" b="b"/>
            <a:pathLst>
              <a:path w="7658536" h="1279087">
                <a:moveTo>
                  <a:pt x="0" y="0"/>
                </a:moveTo>
                <a:lnTo>
                  <a:pt x="7658536" y="0"/>
                </a:lnTo>
                <a:lnTo>
                  <a:pt x="7658536" y="1279087"/>
                </a:lnTo>
                <a:lnTo>
                  <a:pt x="0" y="12790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721518" y="2184220"/>
            <a:ext cx="3720762" cy="5209067"/>
          </a:xfrm>
          <a:custGeom>
            <a:avLst/>
            <a:gdLst/>
            <a:ahLst/>
            <a:cxnLst/>
            <a:rect l="l" t="t" r="r" b="b"/>
            <a:pathLst>
              <a:path w="3720762" h="5209067">
                <a:moveTo>
                  <a:pt x="0" y="0"/>
                </a:moveTo>
                <a:lnTo>
                  <a:pt x="3720763" y="0"/>
                </a:lnTo>
                <a:lnTo>
                  <a:pt x="3720763" y="5209067"/>
                </a:lnTo>
                <a:lnTo>
                  <a:pt x="0" y="52090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601915" y="459105"/>
            <a:ext cx="5784367" cy="113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89"/>
              </a:lnSpc>
            </a:pPr>
            <a:r>
              <a:rPr lang="en-US" sz="7407" b="1">
                <a:solidFill>
                  <a:srgbClr val="FFFBFB"/>
                </a:solidFill>
                <a:latin typeface="Now Bold"/>
                <a:ea typeface="Now Bold"/>
                <a:cs typeface="Now Bold"/>
                <a:sym typeface="Now Bold"/>
              </a:rPr>
              <a:t>PROPUESTA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6755" y="566403"/>
            <a:ext cx="1761340" cy="462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44"/>
              </a:lnSpc>
              <a:spcBef>
                <a:spcPct val="0"/>
              </a:spcBef>
            </a:pPr>
            <a:r>
              <a:rPr lang="en-US" sz="2953" b="1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1° ETAPA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04042" y="4151798"/>
            <a:ext cx="7390057" cy="36512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3"/>
              </a:lnSpc>
            </a:pPr>
            <a:r>
              <a:rPr lang="en-US" sz="2685" b="1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AGREGAREMOS DOS NUEVOS ATRIBUTOS A LA TABLA DE ACEITE:</a:t>
            </a:r>
          </a:p>
          <a:p>
            <a:pPr marL="579901" lvl="1" indent="-289951" algn="l">
              <a:lnSpc>
                <a:spcPts val="3223"/>
              </a:lnSpc>
              <a:buFont typeface="Arial"/>
              <a:buChar char="•"/>
            </a:pPr>
            <a:r>
              <a:rPr lang="en-US" sz="2685" b="1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CAPACIDAD DE RECEPCION</a:t>
            </a:r>
          </a:p>
          <a:p>
            <a:pPr marL="579901" lvl="1" indent="-289951" algn="l">
              <a:lnSpc>
                <a:spcPts val="3223"/>
              </a:lnSpc>
              <a:buFont typeface="Arial"/>
              <a:buChar char="•"/>
            </a:pPr>
            <a:r>
              <a:rPr lang="en-US" sz="2685" b="1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CODIGO DE RANTIY.</a:t>
            </a:r>
          </a:p>
          <a:p>
            <a:pPr algn="l">
              <a:lnSpc>
                <a:spcPts val="3223"/>
              </a:lnSpc>
            </a:pPr>
            <a:endParaRPr lang="en-US" sz="2685" b="1">
              <a:solidFill>
                <a:srgbClr val="FFFFFF"/>
              </a:solidFill>
              <a:latin typeface="Now Bold"/>
              <a:ea typeface="Now Bold"/>
              <a:cs typeface="Now Bold"/>
              <a:sym typeface="Now Bold"/>
            </a:endParaRPr>
          </a:p>
          <a:p>
            <a:pPr algn="l">
              <a:lnSpc>
                <a:spcPts val="3223"/>
              </a:lnSpc>
            </a:pPr>
            <a:endParaRPr lang="en-US" sz="2685" b="1">
              <a:solidFill>
                <a:srgbClr val="FFFFFF"/>
              </a:solidFill>
              <a:latin typeface="Now Bold"/>
              <a:ea typeface="Now Bold"/>
              <a:cs typeface="Now Bold"/>
              <a:sym typeface="Now Bold"/>
            </a:endParaRPr>
          </a:p>
          <a:p>
            <a:pPr algn="l">
              <a:lnSpc>
                <a:spcPts val="3223"/>
              </a:lnSpc>
            </a:pPr>
            <a:endParaRPr lang="en-US" sz="2685" b="1">
              <a:solidFill>
                <a:srgbClr val="FFFFFF"/>
              </a:solidFill>
              <a:latin typeface="Now Bold"/>
              <a:ea typeface="Now Bold"/>
              <a:cs typeface="Now Bold"/>
              <a:sym typeface="Now Bold"/>
            </a:endParaRPr>
          </a:p>
          <a:p>
            <a:pPr algn="l">
              <a:lnSpc>
                <a:spcPts val="3223"/>
              </a:lnSpc>
            </a:pPr>
            <a:endParaRPr lang="en-US" sz="2685" b="1">
              <a:solidFill>
                <a:srgbClr val="FFFFFF"/>
              </a:solidFill>
              <a:latin typeface="Now Bold"/>
              <a:ea typeface="Now Bold"/>
              <a:cs typeface="Now Bold"/>
              <a:sym typeface="Now Bold"/>
            </a:endParaRPr>
          </a:p>
          <a:p>
            <a:pPr algn="l">
              <a:lnSpc>
                <a:spcPts val="3223"/>
              </a:lnSpc>
              <a:spcBef>
                <a:spcPct val="0"/>
              </a:spcBef>
            </a:pPr>
            <a:endParaRPr lang="en-US" sz="2685" b="1">
              <a:solidFill>
                <a:srgbClr val="FFFFFF"/>
              </a:solidFill>
              <a:latin typeface="Now Bold"/>
              <a:ea typeface="Now Bold"/>
              <a:cs typeface="Now Bold"/>
              <a:sym typeface="Now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6378789"/>
            <a:ext cx="7300766" cy="2743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6"/>
              </a:lnSpc>
              <a:spcBef>
                <a:spcPct val="0"/>
              </a:spcBef>
            </a:pPr>
            <a:r>
              <a:rPr lang="en-US" sz="2597">
                <a:solidFill>
                  <a:srgbClr val="FFFBFB"/>
                </a:solidFill>
                <a:latin typeface="Now"/>
                <a:ea typeface="Now"/>
                <a:cs typeface="Now"/>
                <a:sym typeface="Now"/>
              </a:rPr>
              <a:t>ESTO NOS AYUDARÁ A SABER EL PORCENTAJE DE ALMACENAMIENTO UTILIZADO.</a:t>
            </a:r>
          </a:p>
          <a:p>
            <a:pPr algn="l">
              <a:lnSpc>
                <a:spcPts val="3116"/>
              </a:lnSpc>
              <a:spcBef>
                <a:spcPct val="0"/>
              </a:spcBef>
            </a:pPr>
            <a:endParaRPr lang="en-US" sz="2597">
              <a:solidFill>
                <a:srgbClr val="FFFBFB"/>
              </a:solidFill>
              <a:latin typeface="Now"/>
              <a:ea typeface="Now"/>
              <a:cs typeface="Now"/>
              <a:sym typeface="Now"/>
            </a:endParaRPr>
          </a:p>
          <a:p>
            <a:pPr algn="l">
              <a:lnSpc>
                <a:spcPts val="3116"/>
              </a:lnSpc>
              <a:spcBef>
                <a:spcPct val="0"/>
              </a:spcBef>
            </a:pPr>
            <a:r>
              <a:rPr lang="en-US" sz="2597">
                <a:solidFill>
                  <a:srgbClr val="FFFBFB"/>
                </a:solidFill>
                <a:latin typeface="Now"/>
                <a:ea typeface="Now"/>
                <a:cs typeface="Now"/>
                <a:sym typeface="Now"/>
              </a:rPr>
              <a:t>TAMBIÉN NOS PERMITIRÁ VER EN DETALLE LOS PEDIDOS REALIZADOS PARA UN ACEITE ESPECÍFICO.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866239"/>
            <a:ext cx="6880949" cy="576237"/>
          </a:xfrm>
          <a:custGeom>
            <a:avLst/>
            <a:gdLst/>
            <a:ahLst/>
            <a:cxnLst/>
            <a:rect l="l" t="t" r="r" b="b"/>
            <a:pathLst>
              <a:path w="6880949" h="576237">
                <a:moveTo>
                  <a:pt x="0" y="0"/>
                </a:moveTo>
                <a:lnTo>
                  <a:pt x="6880949" y="0"/>
                </a:lnTo>
                <a:lnTo>
                  <a:pt x="6880949" y="576237"/>
                </a:lnTo>
                <a:lnTo>
                  <a:pt x="0" y="5762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28700" y="2442476"/>
            <a:ext cx="9732030" cy="529463"/>
          </a:xfrm>
          <a:custGeom>
            <a:avLst/>
            <a:gdLst/>
            <a:ahLst/>
            <a:cxnLst/>
            <a:rect l="l" t="t" r="r" b="b"/>
            <a:pathLst>
              <a:path w="9732030" h="529463">
                <a:moveTo>
                  <a:pt x="0" y="0"/>
                </a:moveTo>
                <a:lnTo>
                  <a:pt x="9732030" y="0"/>
                </a:lnTo>
                <a:lnTo>
                  <a:pt x="9732030" y="529463"/>
                </a:lnTo>
                <a:lnTo>
                  <a:pt x="0" y="5294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7593983" y="3105714"/>
            <a:ext cx="10575580" cy="4715901"/>
          </a:xfrm>
          <a:custGeom>
            <a:avLst/>
            <a:gdLst/>
            <a:ahLst/>
            <a:cxnLst/>
            <a:rect l="l" t="t" r="r" b="b"/>
            <a:pathLst>
              <a:path w="10575580" h="4715901">
                <a:moveTo>
                  <a:pt x="0" y="0"/>
                </a:moveTo>
                <a:lnTo>
                  <a:pt x="10575580" y="0"/>
                </a:lnTo>
                <a:lnTo>
                  <a:pt x="10575580" y="4715902"/>
                </a:lnTo>
                <a:lnTo>
                  <a:pt x="0" y="47159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635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601915" y="459105"/>
            <a:ext cx="5784367" cy="113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89"/>
              </a:lnSpc>
            </a:pPr>
            <a:r>
              <a:rPr lang="en-US" sz="7407" b="1">
                <a:solidFill>
                  <a:srgbClr val="FFFBFB"/>
                </a:solidFill>
                <a:latin typeface="Now Bold"/>
                <a:ea typeface="Now Bold"/>
                <a:cs typeface="Now Bold"/>
                <a:sym typeface="Now Bold"/>
              </a:rPr>
              <a:t>PROPUESTA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56755" y="566403"/>
            <a:ext cx="1761340" cy="462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44"/>
              </a:lnSpc>
              <a:spcBef>
                <a:spcPct val="0"/>
              </a:spcBef>
            </a:pPr>
            <a:r>
              <a:rPr lang="en-US" sz="2953" b="1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1° ETAPA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03926" y="3810139"/>
            <a:ext cx="7390057" cy="3981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63"/>
              </a:lnSpc>
            </a:pPr>
            <a:r>
              <a:rPr lang="en-US" sz="2385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TENDREMOS QUE CREAR UNA TABLA QUE NOS PERMITA CERRAR LA CANTIDAD TOTAL CONSUMIDA Y LAS HORAS TOTALES TRABAJADAS, SEGREGADAS POR TIPOS DE CONSUMO.</a:t>
            </a:r>
          </a:p>
          <a:p>
            <a:pPr algn="l">
              <a:lnSpc>
                <a:spcPts val="2863"/>
              </a:lnSpc>
            </a:pPr>
            <a:endParaRPr lang="en-US" sz="2385">
              <a:solidFill>
                <a:srgbClr val="FFFFFF"/>
              </a:solidFill>
              <a:latin typeface="Now"/>
              <a:ea typeface="Now"/>
              <a:cs typeface="Now"/>
              <a:sym typeface="Now"/>
            </a:endParaRPr>
          </a:p>
          <a:p>
            <a:pPr algn="l">
              <a:lnSpc>
                <a:spcPts val="2863"/>
              </a:lnSpc>
              <a:spcBef>
                <a:spcPct val="0"/>
              </a:spcBef>
            </a:pPr>
            <a:r>
              <a:rPr lang="en-US" sz="2385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DE MANERA AUTOMÁTICA, LA PLATAFORMA SUMARÁ TODOS LOS REGISTROS DIARIOS DEL MES Y LOS CALCULARÁ, PERMITIENDO QUE EL JEFE AUMENTE O DISMINUYA EL REGISTRO FINAL. ESTO DARÁ LUGAR A UN CIERRE REAL DE LO CONSUMIDO EN EL MES.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28900"/>
            <a:ext cx="18288000" cy="5029200"/>
          </a:xfrm>
          <a:custGeom>
            <a:avLst/>
            <a:gdLst/>
            <a:ahLst/>
            <a:cxnLst/>
            <a:rect l="l" t="t" r="r" b="b"/>
            <a:pathLst>
              <a:path w="18288000" h="5029200">
                <a:moveTo>
                  <a:pt x="0" y="0"/>
                </a:moveTo>
                <a:lnTo>
                  <a:pt x="18288000" y="0"/>
                </a:lnTo>
                <a:lnTo>
                  <a:pt x="18288000" y="5029200"/>
                </a:lnTo>
                <a:lnTo>
                  <a:pt x="0" y="5029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601915" y="459105"/>
            <a:ext cx="5784367" cy="113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89"/>
              </a:lnSpc>
            </a:pPr>
            <a:r>
              <a:rPr lang="en-US" sz="7407" b="1">
                <a:solidFill>
                  <a:srgbClr val="FFFBFB"/>
                </a:solidFill>
                <a:latin typeface="Now Bold"/>
                <a:ea typeface="Now Bold"/>
                <a:cs typeface="Now Bold"/>
                <a:sym typeface="Now Bold"/>
              </a:rPr>
              <a:t>PROPUESTA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56755" y="566403"/>
            <a:ext cx="1761340" cy="462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44"/>
              </a:lnSpc>
              <a:spcBef>
                <a:spcPct val="0"/>
              </a:spcBef>
            </a:pPr>
            <a:r>
              <a:rPr lang="en-US" sz="2953" b="1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1° ETAPA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710715" y="4492044"/>
            <a:ext cx="11941013" cy="4569428"/>
          </a:xfrm>
          <a:custGeom>
            <a:avLst/>
            <a:gdLst/>
            <a:ahLst/>
            <a:cxnLst/>
            <a:rect l="l" t="t" r="r" b="b"/>
            <a:pathLst>
              <a:path w="11941013" h="4569428">
                <a:moveTo>
                  <a:pt x="0" y="0"/>
                </a:moveTo>
                <a:lnTo>
                  <a:pt x="11941013" y="0"/>
                </a:lnTo>
                <a:lnTo>
                  <a:pt x="11941013" y="4569427"/>
                </a:lnTo>
                <a:lnTo>
                  <a:pt x="0" y="45694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710715" y="3114592"/>
            <a:ext cx="9477691" cy="1377452"/>
          </a:xfrm>
          <a:custGeom>
            <a:avLst/>
            <a:gdLst/>
            <a:ahLst/>
            <a:cxnLst/>
            <a:rect l="l" t="t" r="r" b="b"/>
            <a:pathLst>
              <a:path w="9477691" h="1377452">
                <a:moveTo>
                  <a:pt x="0" y="0"/>
                </a:moveTo>
                <a:lnTo>
                  <a:pt x="9477691" y="0"/>
                </a:lnTo>
                <a:lnTo>
                  <a:pt x="9477691" y="1377452"/>
                </a:lnTo>
                <a:lnTo>
                  <a:pt x="0" y="137745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601915" y="459105"/>
            <a:ext cx="5784367" cy="113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89"/>
              </a:lnSpc>
            </a:pPr>
            <a:r>
              <a:rPr lang="en-US" sz="7407" b="1">
                <a:solidFill>
                  <a:srgbClr val="FFFBFB"/>
                </a:solidFill>
                <a:latin typeface="Now Bold"/>
                <a:ea typeface="Now Bold"/>
                <a:cs typeface="Now Bold"/>
                <a:sym typeface="Now Bold"/>
              </a:rPr>
              <a:t>PROPUESTA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6755" y="566403"/>
            <a:ext cx="1761340" cy="462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44"/>
              </a:lnSpc>
              <a:spcBef>
                <a:spcPct val="0"/>
              </a:spcBef>
            </a:pPr>
            <a:r>
              <a:rPr lang="en-US" sz="2953" b="1">
                <a:solidFill>
                  <a:srgbClr val="FFFFFF"/>
                </a:solidFill>
                <a:latin typeface="Now Bold"/>
                <a:ea typeface="Now Bold"/>
                <a:cs typeface="Now Bold"/>
                <a:sym typeface="Now Bold"/>
              </a:rPr>
              <a:t>1° ETAPA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562141" y="1598295"/>
            <a:ext cx="13536269" cy="1085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63"/>
              </a:lnSpc>
              <a:spcBef>
                <a:spcPct val="0"/>
              </a:spcBef>
            </a:pPr>
            <a:r>
              <a:rPr lang="en-US" sz="2385">
                <a:solidFill>
                  <a:srgbClr val="FFFFFF"/>
                </a:solidFill>
                <a:latin typeface="Now"/>
                <a:ea typeface="Now"/>
                <a:cs typeface="Now"/>
                <a:sym typeface="Now"/>
              </a:rPr>
              <a:t>PARA LA VISTA DE LOS REPORTES, SE EXPONDRA LA INFORMACION DESDE UN SERVICIO O QUERY DIRECTO A LA BD, PERMITIENDO MOSTRAR EN POWER BUILDER O GOOGLE DATA STUDIO.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464</Words>
  <Application>Microsoft Office PowerPoint</Application>
  <PresentationFormat>Custom</PresentationFormat>
  <Paragraphs>57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Now</vt:lpstr>
      <vt:lpstr>Arial</vt:lpstr>
      <vt:lpstr>Calibri</vt:lpstr>
      <vt:lpstr>Now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HERRAMIENTA TECNOLÓGICA PARA LA GESTIÓN OPERATIVA Y CONTROL DE LUBRICANTES DE LA FLOTA TSL</dc:title>
  <dc:creator>Cristian Puma</dc:creator>
  <cp:lastModifiedBy>FLOTA TRANSGAS</cp:lastModifiedBy>
  <cp:revision>1</cp:revision>
  <dcterms:created xsi:type="dcterms:W3CDTF">2006-08-16T00:00:00Z</dcterms:created>
  <dcterms:modified xsi:type="dcterms:W3CDTF">2025-02-17T15:20:00Z</dcterms:modified>
  <dc:identifier>DAGUZ9OEXJo</dc:identifier>
</cp:coreProperties>
</file>